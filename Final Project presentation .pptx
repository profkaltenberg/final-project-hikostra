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1" r:id="rId1"/>
  </p:sldMasterIdLst>
  <p:sldIdLst>
    <p:sldId id="256" r:id="rId2"/>
    <p:sldId id="257" r:id="rId3"/>
    <p:sldId id="258" r:id="rId4"/>
    <p:sldId id="259"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28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68"/>
    <p:restoredTop sz="94682"/>
  </p:normalViewPr>
  <p:slideViewPr>
    <p:cSldViewPr snapToGrid="0">
      <p:cViewPr>
        <p:scale>
          <a:sx n="129" d="100"/>
          <a:sy n="129" d="100"/>
        </p:scale>
        <p:origin x="272"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73004216"/>
      </p:ext>
    </p:extLst>
  </p:cSld>
  <p:clrMapOvr>
    <a:masterClrMapping/>
  </p:clrMapOvr>
  <p:transition>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05780513"/>
      </p:ext>
    </p:extLst>
  </p:cSld>
  <p:clrMapOvr>
    <a:masterClrMapping/>
  </p:clrMapOvr>
  <p:transition>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5/10/26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36733048"/>
      </p:ext>
    </p:extLst>
  </p:cSld>
  <p:clrMapOvr>
    <a:masterClrMapping/>
  </p:clrMapOvr>
  <p:transition>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8284476"/>
      </p:ext>
    </p:extLst>
  </p:cSld>
  <p:clrMapOvr>
    <a:masterClrMapping/>
  </p:clrMapOvr>
  <p:transition>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19726303"/>
      </p:ext>
    </p:extLst>
  </p:cSld>
  <p:clrMapOvr>
    <a:masterClrMapping/>
  </p:clrMapOvr>
  <p:transition>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5/10/26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27101967"/>
      </p:ext>
    </p:extLst>
  </p:cSld>
  <p:clrMapOvr>
    <a:masterClrMapping/>
  </p:clrMapOvr>
  <p:transition>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smtClean="0"/>
              <a:t>5/10/26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15230278"/>
      </p:ext>
    </p:extLst>
  </p:cSld>
  <p:clrMapOvr>
    <a:masterClrMapping/>
  </p:clrMapOvr>
  <p:transition>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05666760"/>
      </p:ext>
    </p:extLst>
  </p:cSld>
  <p:clrMapOvr>
    <a:masterClrMapping/>
  </p:clrMapOvr>
  <p:transition>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36562744"/>
      </p:ext>
    </p:extLst>
  </p:cSld>
  <p:clrMapOvr>
    <a:masterClrMapping/>
  </p:clrMapOvr>
  <p:transition>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57463523"/>
      </p:ext>
    </p:extLst>
  </p:cSld>
  <p:clrMapOvr>
    <a:masterClrMapping/>
  </p:clrMapOvr>
  <p:transition>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84847145"/>
      </p:ext>
    </p:extLst>
  </p:cSld>
  <p:clrMapOvr>
    <a:masterClrMapping/>
  </p:clrMapOvr>
  <p:transition>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29516999"/>
      </p:ext>
    </p:extLst>
  </p:cSld>
  <p:clrMapOvr>
    <a:masterClrMapping/>
  </p:clrMapOvr>
  <p:transition>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41802124"/>
      </p:ext>
    </p:extLst>
  </p:cSld>
  <p:clrMapOvr>
    <a:masterClrMapping/>
  </p:clrMapOvr>
  <p:transition>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5/10/26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05438807"/>
      </p:ext>
    </p:extLst>
  </p:cSld>
  <p:clrMapOvr>
    <a:masterClrMapping/>
  </p:clrMapOvr>
  <p:transition>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5/10/26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949339"/>
      </p:ext>
    </p:extLst>
  </p:cSld>
  <p:clrMapOvr>
    <a:masterClrMapping/>
  </p:clrMapOvr>
  <p:transition>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61652848"/>
      </p:ext>
    </p:extLst>
  </p:cSld>
  <p:clrMapOvr>
    <a:masterClrMapping/>
  </p:clrMapOvr>
  <p:transition>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18338666"/>
      </p:ext>
    </p:extLst>
  </p:cSld>
  <p:clrMapOvr>
    <a:masterClrMapping/>
  </p:clrMapOvr>
  <p:transition>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smtClean="0"/>
              <a:pPr/>
              <a:t>5/10/26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49024708"/>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 id="2147483757" r:id="rId16"/>
    <p:sldLayoutId id="2147483758" r:id="rId17"/>
  </p:sldLayoutIdLst>
  <p:transition>
    <p:push dir="u"/>
  </p:transition>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CC393-C553-0043-CA03-A9ACE054085C}"/>
              </a:ext>
            </a:extLst>
          </p:cNvPr>
          <p:cNvSpPr>
            <a:spLocks noGrp="1"/>
          </p:cNvSpPr>
          <p:nvPr>
            <p:ph type="ctrTitle"/>
          </p:nvPr>
        </p:nvSpPr>
        <p:spPr/>
        <p:txBody>
          <a:bodyPr>
            <a:normAutofit/>
          </a:bodyPr>
          <a:lstStyle/>
          <a:p>
            <a:r>
              <a:rPr lang="en-US" dirty="0">
                <a:solidFill>
                  <a:schemeClr val="accent1">
                    <a:lumMod val="50000"/>
                  </a:schemeClr>
                </a:solidFill>
              </a:rPr>
              <a:t>The Effect of Weather on S&amp;P 500 Market Performance</a:t>
            </a:r>
          </a:p>
        </p:txBody>
      </p:sp>
      <p:sp>
        <p:nvSpPr>
          <p:cNvPr id="3" name="Subtitle 2">
            <a:extLst>
              <a:ext uri="{FF2B5EF4-FFF2-40B4-BE49-F238E27FC236}">
                <a16:creationId xmlns:a16="http://schemas.microsoft.com/office/drawing/2014/main" id="{20E76A94-8C2D-3C00-99E2-AAA01522FB4C}"/>
              </a:ext>
            </a:extLst>
          </p:cNvPr>
          <p:cNvSpPr>
            <a:spLocks noGrp="1"/>
          </p:cNvSpPr>
          <p:nvPr>
            <p:ph type="subTitle" idx="1"/>
          </p:nvPr>
        </p:nvSpPr>
        <p:spPr/>
        <p:txBody>
          <a:bodyPr>
            <a:normAutofit fontScale="92500" lnSpcReduction="10000"/>
          </a:bodyPr>
          <a:lstStyle/>
          <a:p>
            <a:r>
              <a:rPr lang="en-US" dirty="0">
                <a:solidFill>
                  <a:schemeClr val="accent1">
                    <a:lumMod val="50000"/>
                  </a:schemeClr>
                </a:solidFill>
              </a:rPr>
              <a:t>Yelizaveta Nazarova </a:t>
            </a:r>
          </a:p>
          <a:p>
            <a:r>
              <a:rPr lang="en-US" dirty="0">
                <a:solidFill>
                  <a:schemeClr val="accent1">
                    <a:lumMod val="50000"/>
                  </a:schemeClr>
                </a:solidFill>
              </a:rPr>
              <a:t>Eco 590</a:t>
            </a:r>
          </a:p>
          <a:p>
            <a:r>
              <a:rPr lang="en-US" dirty="0">
                <a:solidFill>
                  <a:schemeClr val="accent1">
                    <a:lumMod val="50000"/>
                  </a:schemeClr>
                </a:solidFill>
              </a:rPr>
              <a:t>Professor Kaltenberg</a:t>
            </a:r>
          </a:p>
        </p:txBody>
      </p:sp>
    </p:spTree>
    <p:extLst>
      <p:ext uri="{BB962C8B-B14F-4D97-AF65-F5344CB8AC3E}">
        <p14:creationId xmlns:p14="http://schemas.microsoft.com/office/powerpoint/2010/main" val="564771607"/>
      </p:ext>
    </p:extLst>
  </p:cSld>
  <p:clrMapOvr>
    <a:masterClrMapping/>
  </p:clrMapOvr>
  <p:transition>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A1169-12AA-D097-1B3F-FBDA9C6A856B}"/>
              </a:ext>
            </a:extLst>
          </p:cNvPr>
          <p:cNvSpPr>
            <a:spLocks noGrp="1"/>
          </p:cNvSpPr>
          <p:nvPr>
            <p:ph type="title"/>
          </p:nvPr>
        </p:nvSpPr>
        <p:spPr>
          <a:xfrm>
            <a:off x="3781529" y="0"/>
            <a:ext cx="4627684" cy="1596177"/>
          </a:xfrm>
        </p:spPr>
        <p:txBody>
          <a:bodyPr/>
          <a:lstStyle/>
          <a:p>
            <a:r>
              <a:rPr lang="en-US" dirty="0">
                <a:solidFill>
                  <a:schemeClr val="accent1">
                    <a:lumMod val="50000"/>
                  </a:schemeClr>
                </a:solidFill>
              </a:rPr>
              <a:t>Motivation </a:t>
            </a:r>
          </a:p>
        </p:txBody>
      </p:sp>
      <p:sp>
        <p:nvSpPr>
          <p:cNvPr id="3" name="Content Placeholder 2">
            <a:extLst>
              <a:ext uri="{FF2B5EF4-FFF2-40B4-BE49-F238E27FC236}">
                <a16:creationId xmlns:a16="http://schemas.microsoft.com/office/drawing/2014/main" id="{CE9506FD-ACDF-FEB6-C8E9-4348C6679635}"/>
              </a:ext>
            </a:extLst>
          </p:cNvPr>
          <p:cNvSpPr>
            <a:spLocks noGrp="1"/>
          </p:cNvSpPr>
          <p:nvPr>
            <p:ph sz="quarter" idx="13"/>
          </p:nvPr>
        </p:nvSpPr>
        <p:spPr>
          <a:xfrm>
            <a:off x="1311055" y="1317600"/>
            <a:ext cx="9568632" cy="3424107"/>
          </a:xfrm>
        </p:spPr>
        <p:txBody>
          <a:bodyPr>
            <a:normAutofit/>
          </a:bodyPr>
          <a:lstStyle/>
          <a:p>
            <a:pPr>
              <a:lnSpc>
                <a:spcPct val="100000"/>
              </a:lnSpc>
            </a:pPr>
            <a:r>
              <a:rPr lang="en-US" cap="none" dirty="0">
                <a:solidFill>
                  <a:schemeClr val="accent1">
                    <a:lumMod val="50000"/>
                  </a:schemeClr>
                </a:solidFill>
              </a:rPr>
              <a:t>Financial markets are often assumed to be fully rational, but investor behavior can be influenced by psychological and environmental factors.</a:t>
            </a:r>
          </a:p>
          <a:p>
            <a:pPr>
              <a:lnSpc>
                <a:spcPct val="100000"/>
              </a:lnSpc>
            </a:pPr>
            <a:r>
              <a:rPr lang="en-US" cap="none" dirty="0">
                <a:solidFill>
                  <a:schemeClr val="accent1">
                    <a:lumMod val="50000"/>
                  </a:schemeClr>
                </a:solidFill>
              </a:rPr>
              <a:t>Previous behavioral finance research suggests that weather conditions may affect mood, risk tolerance, and trading decisions.</a:t>
            </a:r>
          </a:p>
          <a:p>
            <a:pPr>
              <a:lnSpc>
                <a:spcPct val="100000"/>
              </a:lnSpc>
            </a:pPr>
            <a:r>
              <a:rPr lang="en-US" cap="none" dirty="0">
                <a:solidFill>
                  <a:schemeClr val="accent1">
                    <a:lumMod val="50000"/>
                  </a:schemeClr>
                </a:solidFill>
              </a:rPr>
              <a:t>This project explores whether daily weather conditions in New York have any relationship with S&amp;P 500 market performance.</a:t>
            </a:r>
          </a:p>
          <a:p>
            <a:pPr>
              <a:lnSpc>
                <a:spcPct val="100000"/>
              </a:lnSpc>
            </a:pPr>
            <a:r>
              <a:rPr lang="en-US" cap="none" dirty="0">
                <a:solidFill>
                  <a:schemeClr val="accent1">
                    <a:lumMod val="50000"/>
                  </a:schemeClr>
                </a:solidFill>
              </a:rPr>
              <a:t>Understanding these relationships may provide insights into investor sentiment and market dynamics.</a:t>
            </a:r>
          </a:p>
        </p:txBody>
      </p:sp>
      <p:sp>
        <p:nvSpPr>
          <p:cNvPr id="6" name="TextBox 5">
            <a:extLst>
              <a:ext uri="{FF2B5EF4-FFF2-40B4-BE49-F238E27FC236}">
                <a16:creationId xmlns:a16="http://schemas.microsoft.com/office/drawing/2014/main" id="{CC103480-BC8B-64FD-2E29-3DC14FB38941}"/>
              </a:ext>
            </a:extLst>
          </p:cNvPr>
          <p:cNvSpPr txBox="1"/>
          <p:nvPr/>
        </p:nvSpPr>
        <p:spPr>
          <a:xfrm>
            <a:off x="4130478" y="4263890"/>
            <a:ext cx="4278735" cy="646331"/>
          </a:xfrm>
          <a:prstGeom prst="rect">
            <a:avLst/>
          </a:prstGeom>
          <a:noFill/>
        </p:spPr>
        <p:txBody>
          <a:bodyPr wrap="none" rtlCol="0">
            <a:spAutoFit/>
          </a:bodyPr>
          <a:lstStyle/>
          <a:p>
            <a:r>
              <a:rPr lang="en-US" sz="3600" dirty="0">
                <a:solidFill>
                  <a:schemeClr val="accent1">
                    <a:lumMod val="50000"/>
                  </a:schemeClr>
                </a:solidFill>
              </a:rPr>
              <a:t>RESEARCH QUESTION</a:t>
            </a:r>
          </a:p>
        </p:txBody>
      </p:sp>
      <p:sp>
        <p:nvSpPr>
          <p:cNvPr id="7" name="TextBox 6">
            <a:extLst>
              <a:ext uri="{FF2B5EF4-FFF2-40B4-BE49-F238E27FC236}">
                <a16:creationId xmlns:a16="http://schemas.microsoft.com/office/drawing/2014/main" id="{7CDD2FB5-C708-656D-B805-FF398A516973}"/>
              </a:ext>
            </a:extLst>
          </p:cNvPr>
          <p:cNvSpPr txBox="1"/>
          <p:nvPr/>
        </p:nvSpPr>
        <p:spPr>
          <a:xfrm>
            <a:off x="1708337" y="5078735"/>
            <a:ext cx="8774069" cy="461665"/>
          </a:xfrm>
          <a:prstGeom prst="rect">
            <a:avLst/>
          </a:prstGeom>
          <a:noFill/>
        </p:spPr>
        <p:txBody>
          <a:bodyPr wrap="none" rtlCol="0">
            <a:spAutoFit/>
          </a:bodyPr>
          <a:lstStyle/>
          <a:p>
            <a:r>
              <a:rPr lang="en-US" sz="2400" dirty="0">
                <a:solidFill>
                  <a:schemeClr val="accent1">
                    <a:lumMod val="50000"/>
                  </a:schemeClr>
                </a:solidFill>
              </a:rPr>
              <a:t>Do weather conditions influence investor behavior in financial markets?</a:t>
            </a:r>
          </a:p>
        </p:txBody>
      </p:sp>
    </p:spTree>
    <p:extLst>
      <p:ext uri="{BB962C8B-B14F-4D97-AF65-F5344CB8AC3E}">
        <p14:creationId xmlns:p14="http://schemas.microsoft.com/office/powerpoint/2010/main" val="2891205608"/>
      </p:ext>
    </p:extLst>
  </p:cSld>
  <p:clrMapOvr>
    <a:masterClrMapping/>
  </p:clrMapOvr>
  <p:transition>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3915E-FE15-19C9-952A-841C86CFFA4B}"/>
              </a:ext>
            </a:extLst>
          </p:cNvPr>
          <p:cNvSpPr>
            <a:spLocks noGrp="1"/>
          </p:cNvSpPr>
          <p:nvPr>
            <p:ph type="title"/>
          </p:nvPr>
        </p:nvSpPr>
        <p:spPr>
          <a:xfrm>
            <a:off x="913149" y="268712"/>
            <a:ext cx="10364451" cy="1596177"/>
          </a:xfrm>
        </p:spPr>
        <p:txBody>
          <a:bodyPr/>
          <a:lstStyle/>
          <a:p>
            <a:r>
              <a:rPr lang="en-US" dirty="0">
                <a:solidFill>
                  <a:schemeClr val="accent1">
                    <a:lumMod val="50000"/>
                  </a:schemeClr>
                </a:solidFill>
              </a:rPr>
              <a:t>Key Variables </a:t>
            </a:r>
          </a:p>
        </p:txBody>
      </p:sp>
      <p:sp>
        <p:nvSpPr>
          <p:cNvPr id="3" name="Content Placeholder 2">
            <a:extLst>
              <a:ext uri="{FF2B5EF4-FFF2-40B4-BE49-F238E27FC236}">
                <a16:creationId xmlns:a16="http://schemas.microsoft.com/office/drawing/2014/main" id="{250D62D0-2611-B409-54FE-A077E940C84B}"/>
              </a:ext>
            </a:extLst>
          </p:cNvPr>
          <p:cNvSpPr>
            <a:spLocks noGrp="1"/>
          </p:cNvSpPr>
          <p:nvPr>
            <p:ph sz="quarter" idx="13"/>
          </p:nvPr>
        </p:nvSpPr>
        <p:spPr>
          <a:xfrm>
            <a:off x="1000859" y="1528892"/>
            <a:ext cx="10363826" cy="4001051"/>
          </a:xfrm>
        </p:spPr>
        <p:txBody>
          <a:bodyPr numCol="2">
            <a:normAutofit fontScale="92500"/>
          </a:bodyPr>
          <a:lstStyle/>
          <a:p>
            <a:pPr marL="0" indent="0">
              <a:buNone/>
            </a:pPr>
            <a:r>
              <a:rPr lang="en-US" b="1" dirty="0">
                <a:solidFill>
                  <a:schemeClr val="accent1">
                    <a:lumMod val="50000"/>
                  </a:schemeClr>
                </a:solidFill>
              </a:rPr>
              <a:t>Dependent Variable</a:t>
            </a:r>
          </a:p>
          <a:p>
            <a:r>
              <a:rPr lang="en-US" dirty="0">
                <a:solidFill>
                  <a:schemeClr val="accent1">
                    <a:lumMod val="50000"/>
                  </a:schemeClr>
                </a:solidFill>
              </a:rPr>
              <a:t>S&amp;P 500 Closing Price (close)</a:t>
            </a:r>
          </a:p>
          <a:p>
            <a:r>
              <a:rPr lang="en-US" dirty="0">
                <a:solidFill>
                  <a:schemeClr val="accent1">
                    <a:lumMod val="50000"/>
                  </a:schemeClr>
                </a:solidFill>
              </a:rPr>
              <a:t>Daily market return (</a:t>
            </a:r>
            <a:r>
              <a:rPr lang="en-US" dirty="0" err="1">
                <a:solidFill>
                  <a:schemeClr val="accent1">
                    <a:lumMod val="50000"/>
                  </a:schemeClr>
                </a:solidFill>
              </a:rPr>
              <a:t>daily_return</a:t>
            </a:r>
            <a:r>
              <a:rPr lang="en-US" dirty="0">
                <a:solidFill>
                  <a:schemeClr val="accent1">
                    <a:lumMod val="50000"/>
                  </a:schemeClr>
                </a:solidFill>
              </a:rPr>
              <a:t>)</a:t>
            </a:r>
          </a:p>
          <a:p>
            <a:pPr marL="0" indent="0">
              <a:buNone/>
            </a:pPr>
            <a:r>
              <a:rPr lang="en-US" b="1" dirty="0">
                <a:solidFill>
                  <a:schemeClr val="accent1">
                    <a:lumMod val="50000"/>
                  </a:schemeClr>
                </a:solidFill>
              </a:rPr>
              <a:t>Independent Variables</a:t>
            </a:r>
          </a:p>
          <a:p>
            <a:r>
              <a:rPr lang="en-US" dirty="0">
                <a:solidFill>
                  <a:schemeClr val="accent1">
                    <a:lumMod val="50000"/>
                  </a:schemeClr>
                </a:solidFill>
              </a:rPr>
              <a:t>Temperature — daily average temperature</a:t>
            </a:r>
          </a:p>
          <a:p>
            <a:r>
              <a:rPr lang="en-US" dirty="0">
                <a:solidFill>
                  <a:schemeClr val="accent1">
                    <a:lumMod val="50000"/>
                  </a:schemeClr>
                </a:solidFill>
              </a:rPr>
              <a:t>Humidity — daily relative humidity</a:t>
            </a:r>
          </a:p>
          <a:p>
            <a:r>
              <a:rPr lang="en-US" dirty="0">
                <a:solidFill>
                  <a:schemeClr val="accent1">
                    <a:lumMod val="50000"/>
                  </a:schemeClr>
                </a:solidFill>
              </a:rPr>
              <a:t>Cloud Cover — percentage of cloudiness</a:t>
            </a:r>
          </a:p>
          <a:p>
            <a:r>
              <a:rPr lang="en-US" dirty="0">
                <a:solidFill>
                  <a:schemeClr val="accent1">
                    <a:lumMod val="50000"/>
                  </a:schemeClr>
                </a:solidFill>
              </a:rPr>
              <a:t>Wind Speed — daily average wind speed</a:t>
            </a:r>
          </a:p>
          <a:p>
            <a:endParaRPr lang="en-US" dirty="0">
              <a:solidFill>
                <a:schemeClr val="accent1">
                  <a:lumMod val="50000"/>
                </a:schemeClr>
              </a:solidFill>
            </a:endParaRPr>
          </a:p>
          <a:p>
            <a:endParaRPr lang="en-US" dirty="0">
              <a:solidFill>
                <a:schemeClr val="accent1">
                  <a:lumMod val="50000"/>
                </a:schemeClr>
              </a:solidFill>
            </a:endParaRPr>
          </a:p>
          <a:p>
            <a:pPr marL="0" indent="0">
              <a:buNone/>
            </a:pPr>
            <a:r>
              <a:rPr lang="en-US" b="1" dirty="0">
                <a:solidFill>
                  <a:schemeClr val="accent1">
                    <a:lumMod val="50000"/>
                  </a:schemeClr>
                </a:solidFill>
              </a:rPr>
              <a:t>Calculated variables  Variables</a:t>
            </a:r>
          </a:p>
          <a:p>
            <a:r>
              <a:rPr lang="en-US" dirty="0">
                <a:solidFill>
                  <a:schemeClr val="accent1">
                    <a:lumMod val="50000"/>
                  </a:schemeClr>
                </a:solidFill>
              </a:rPr>
              <a:t>Good Weather dummy — equals 1 during comfortable weather conditions and 0 otherwise.</a:t>
            </a:r>
          </a:p>
          <a:p>
            <a:r>
              <a:rPr lang="en-US" dirty="0">
                <a:solidFill>
                  <a:schemeClr val="accent1">
                    <a:lumMod val="50000"/>
                  </a:schemeClr>
                </a:solidFill>
              </a:rPr>
              <a:t>Bad Weather Dummy — equals 1 during extreme or unfavorable weather conditions and 0 otherwise.</a:t>
            </a:r>
          </a:p>
        </p:txBody>
      </p:sp>
    </p:spTree>
    <p:extLst>
      <p:ext uri="{BB962C8B-B14F-4D97-AF65-F5344CB8AC3E}">
        <p14:creationId xmlns:p14="http://schemas.microsoft.com/office/powerpoint/2010/main" val="3495797156"/>
      </p:ext>
    </p:extLst>
  </p:cSld>
  <p:clrMapOvr>
    <a:masterClrMapping/>
  </p:clrMapOvr>
  <p:transition>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728B9-90FD-1F14-C176-6EB7BB79BC11}"/>
              </a:ext>
            </a:extLst>
          </p:cNvPr>
          <p:cNvSpPr>
            <a:spLocks noGrp="1"/>
          </p:cNvSpPr>
          <p:nvPr>
            <p:ph type="title"/>
          </p:nvPr>
        </p:nvSpPr>
        <p:spPr>
          <a:xfrm>
            <a:off x="1153260" y="955974"/>
            <a:ext cx="10364451" cy="840169"/>
          </a:xfrm>
        </p:spPr>
        <p:txBody>
          <a:bodyPr/>
          <a:lstStyle/>
          <a:p>
            <a:r>
              <a:rPr lang="en-US" dirty="0">
                <a:solidFill>
                  <a:schemeClr val="accent1">
                    <a:lumMod val="50000"/>
                  </a:schemeClr>
                </a:solidFill>
              </a:rPr>
              <a:t>Main challenges with </a:t>
            </a:r>
            <a:r>
              <a:rPr lang="en-US" dirty="0" err="1">
                <a:solidFill>
                  <a:schemeClr val="accent1">
                    <a:lumMod val="50000"/>
                  </a:schemeClr>
                </a:solidFill>
              </a:rPr>
              <a:t>api</a:t>
            </a:r>
            <a:endParaRPr lang="en-US" dirty="0">
              <a:solidFill>
                <a:schemeClr val="accent1">
                  <a:lumMod val="50000"/>
                </a:schemeClr>
              </a:solidFill>
            </a:endParaRPr>
          </a:p>
        </p:txBody>
      </p:sp>
      <p:sp>
        <p:nvSpPr>
          <p:cNvPr id="3" name="Content Placeholder 2">
            <a:extLst>
              <a:ext uri="{FF2B5EF4-FFF2-40B4-BE49-F238E27FC236}">
                <a16:creationId xmlns:a16="http://schemas.microsoft.com/office/drawing/2014/main" id="{F783874B-9FF5-9C2D-560E-7342143BF66F}"/>
              </a:ext>
            </a:extLst>
          </p:cNvPr>
          <p:cNvSpPr>
            <a:spLocks noGrp="1"/>
          </p:cNvSpPr>
          <p:nvPr>
            <p:ph sz="quarter" idx="13"/>
          </p:nvPr>
        </p:nvSpPr>
        <p:spPr>
          <a:xfrm>
            <a:off x="1012058" y="1797284"/>
            <a:ext cx="10363826" cy="4571998"/>
          </a:xfrm>
        </p:spPr>
        <p:txBody>
          <a:bodyPr/>
          <a:lstStyle/>
          <a:p>
            <a:r>
              <a:rPr lang="en-US" dirty="0">
                <a:solidFill>
                  <a:schemeClr val="accent1">
                    <a:lumMod val="50000"/>
                  </a:schemeClr>
                </a:solidFill>
              </a:rPr>
              <a:t>Finding a reliable historical weather API.</a:t>
            </a:r>
          </a:p>
          <a:p>
            <a:r>
              <a:rPr lang="en-US" dirty="0">
                <a:solidFill>
                  <a:schemeClr val="accent1">
                    <a:lumMod val="50000"/>
                  </a:schemeClr>
                </a:solidFill>
              </a:rPr>
              <a:t>Determining which variables were most relevant for the analysis.</a:t>
            </a:r>
            <a:endParaRPr lang="ru-RU" dirty="0">
              <a:solidFill>
                <a:schemeClr val="accent1">
                  <a:lumMod val="50000"/>
                </a:schemeClr>
              </a:solidFill>
            </a:endParaRPr>
          </a:p>
          <a:p>
            <a:endParaRPr lang="ru-RU" dirty="0">
              <a:solidFill>
                <a:schemeClr val="accent6">
                  <a:lumMod val="50000"/>
                </a:schemeClr>
              </a:solidFill>
            </a:endParaRPr>
          </a:p>
          <a:p>
            <a:r>
              <a:rPr lang="en-US" dirty="0">
                <a:solidFill>
                  <a:schemeClr val="tx2"/>
                </a:solidFill>
              </a:rPr>
              <a:t>Main URL: </a:t>
            </a:r>
            <a:r>
              <a:rPr lang="en-US" dirty="0" err="1">
                <a:solidFill>
                  <a:schemeClr val="tx2"/>
                </a:solidFill>
              </a:rPr>
              <a:t>url</a:t>
            </a:r>
            <a:r>
              <a:rPr lang="en-US" dirty="0">
                <a:solidFill>
                  <a:schemeClr val="tx2"/>
                </a:solidFill>
              </a:rPr>
              <a:t> = "https://archive-</a:t>
            </a:r>
            <a:r>
              <a:rPr lang="en-US" dirty="0" err="1">
                <a:solidFill>
                  <a:schemeClr val="tx2"/>
                </a:solidFill>
              </a:rPr>
              <a:t>api.open</a:t>
            </a:r>
            <a:r>
              <a:rPr lang="en-US" dirty="0">
                <a:solidFill>
                  <a:schemeClr val="tx2"/>
                </a:solidFill>
              </a:rPr>
              <a:t>-</a:t>
            </a:r>
            <a:r>
              <a:rPr lang="en-US" dirty="0" err="1">
                <a:solidFill>
                  <a:schemeClr val="tx2"/>
                </a:solidFill>
              </a:rPr>
              <a:t>meteo.com</a:t>
            </a:r>
            <a:r>
              <a:rPr lang="en-US" dirty="0">
                <a:solidFill>
                  <a:schemeClr val="tx2"/>
                </a:solidFill>
              </a:rPr>
              <a:t>/v1/</a:t>
            </a:r>
            <a:r>
              <a:rPr lang="en-US" dirty="0" err="1">
                <a:solidFill>
                  <a:schemeClr val="tx2"/>
                </a:solidFill>
              </a:rPr>
              <a:t>archive?latitude</a:t>
            </a:r>
            <a:r>
              <a:rPr lang="en-US" dirty="0">
                <a:solidFill>
                  <a:schemeClr val="tx2"/>
                </a:solidFill>
              </a:rPr>
              <a:t>=40.7128&amp;longitude=-74.0060&amp;start_date=2025-01-01&amp;end_date=2026-04-09&amp;daily= temperature_2m_mean,relative_humidity_2m_mean,cloudcover_mean,windspeed_10m_max&amp;timezone=America/</a:t>
            </a:r>
            <a:r>
              <a:rPr lang="en-US" dirty="0" err="1">
                <a:solidFill>
                  <a:schemeClr val="tx2"/>
                </a:solidFill>
              </a:rPr>
              <a:t>New_York</a:t>
            </a:r>
            <a:r>
              <a:rPr lang="en-US" dirty="0">
                <a:solidFill>
                  <a:schemeClr val="tx2"/>
                </a:solidFill>
              </a:rPr>
              <a:t>"</a:t>
            </a:r>
          </a:p>
          <a:p>
            <a:endParaRPr lang="en-US" dirty="0">
              <a:solidFill>
                <a:schemeClr val="accent1">
                  <a:lumMod val="50000"/>
                </a:schemeClr>
              </a:solidFill>
            </a:endParaRPr>
          </a:p>
        </p:txBody>
      </p:sp>
      <p:sp>
        <p:nvSpPr>
          <p:cNvPr id="5" name="TextBox 4">
            <a:extLst>
              <a:ext uri="{FF2B5EF4-FFF2-40B4-BE49-F238E27FC236}">
                <a16:creationId xmlns:a16="http://schemas.microsoft.com/office/drawing/2014/main" id="{F3FB4EE3-F25C-91DB-BB7B-C15B393FACD5}"/>
              </a:ext>
            </a:extLst>
          </p:cNvPr>
          <p:cNvSpPr txBox="1"/>
          <p:nvPr/>
        </p:nvSpPr>
        <p:spPr>
          <a:xfrm>
            <a:off x="7008907" y="3239389"/>
            <a:ext cx="1649811" cy="369332"/>
          </a:xfrm>
          <a:prstGeom prst="rect">
            <a:avLst/>
          </a:prstGeom>
          <a:noFill/>
          <a:ln>
            <a:solidFill>
              <a:schemeClr val="accent1"/>
            </a:solidFill>
          </a:ln>
        </p:spPr>
        <p:txBody>
          <a:bodyPr wrap="none" rtlCol="0">
            <a:spAutoFit/>
          </a:bodyPr>
          <a:lstStyle/>
          <a:p>
            <a:r>
              <a:rPr lang="en-US" dirty="0">
                <a:solidFill>
                  <a:schemeClr val="accent1"/>
                </a:solidFill>
              </a:rPr>
              <a:t>NY coordinates </a:t>
            </a:r>
          </a:p>
        </p:txBody>
      </p:sp>
      <p:sp>
        <p:nvSpPr>
          <p:cNvPr id="6" name="TextBox 5">
            <a:extLst>
              <a:ext uri="{FF2B5EF4-FFF2-40B4-BE49-F238E27FC236}">
                <a16:creationId xmlns:a16="http://schemas.microsoft.com/office/drawing/2014/main" id="{1DCAEECD-9463-E16D-36AF-65DFE93E12FB}"/>
              </a:ext>
            </a:extLst>
          </p:cNvPr>
          <p:cNvSpPr txBox="1"/>
          <p:nvPr/>
        </p:nvSpPr>
        <p:spPr>
          <a:xfrm>
            <a:off x="5662063" y="4018001"/>
            <a:ext cx="1346844" cy="369332"/>
          </a:xfrm>
          <a:prstGeom prst="rect">
            <a:avLst/>
          </a:prstGeom>
          <a:noFill/>
        </p:spPr>
        <p:txBody>
          <a:bodyPr wrap="none" rtlCol="0">
            <a:spAutoFit/>
          </a:bodyPr>
          <a:lstStyle/>
          <a:p>
            <a:r>
              <a:rPr lang="en-US" dirty="0">
                <a:solidFill>
                  <a:schemeClr val="accent3">
                    <a:lumMod val="50000"/>
                  </a:schemeClr>
                </a:solidFill>
              </a:rPr>
              <a:t>Time period </a:t>
            </a:r>
          </a:p>
        </p:txBody>
      </p:sp>
      <p:sp>
        <p:nvSpPr>
          <p:cNvPr id="7" name="TextBox 6">
            <a:extLst>
              <a:ext uri="{FF2B5EF4-FFF2-40B4-BE49-F238E27FC236}">
                <a16:creationId xmlns:a16="http://schemas.microsoft.com/office/drawing/2014/main" id="{180BDCDE-60D3-3F5A-297B-FE821A72C400}"/>
              </a:ext>
            </a:extLst>
          </p:cNvPr>
          <p:cNvSpPr txBox="1"/>
          <p:nvPr/>
        </p:nvSpPr>
        <p:spPr>
          <a:xfrm>
            <a:off x="9046278" y="4131129"/>
            <a:ext cx="1123962" cy="369332"/>
          </a:xfrm>
          <a:prstGeom prst="rect">
            <a:avLst/>
          </a:prstGeom>
          <a:noFill/>
        </p:spPr>
        <p:txBody>
          <a:bodyPr wrap="none" rtlCol="0">
            <a:spAutoFit/>
          </a:bodyPr>
          <a:lstStyle/>
          <a:p>
            <a:r>
              <a:rPr lang="en-US" dirty="0">
                <a:solidFill>
                  <a:srgbClr val="C00000"/>
                </a:solidFill>
              </a:rPr>
              <a:t>Variables</a:t>
            </a:r>
            <a:r>
              <a:rPr lang="en-US" dirty="0"/>
              <a:t> </a:t>
            </a:r>
          </a:p>
        </p:txBody>
      </p:sp>
      <p:sp>
        <p:nvSpPr>
          <p:cNvPr id="8" name="TextBox 7">
            <a:extLst>
              <a:ext uri="{FF2B5EF4-FFF2-40B4-BE49-F238E27FC236}">
                <a16:creationId xmlns:a16="http://schemas.microsoft.com/office/drawing/2014/main" id="{681F53BE-AD11-62A3-EE1A-4D35788E4589}"/>
              </a:ext>
            </a:extLst>
          </p:cNvPr>
          <p:cNvSpPr txBox="1"/>
          <p:nvPr/>
        </p:nvSpPr>
        <p:spPr>
          <a:xfrm>
            <a:off x="6139987" y="4719348"/>
            <a:ext cx="1039067" cy="369332"/>
          </a:xfrm>
          <a:prstGeom prst="rect">
            <a:avLst/>
          </a:prstGeom>
          <a:noFill/>
        </p:spPr>
        <p:txBody>
          <a:bodyPr wrap="none" rtlCol="0">
            <a:spAutoFit/>
          </a:bodyPr>
          <a:lstStyle/>
          <a:p>
            <a:r>
              <a:rPr lang="en-US" dirty="0" err="1"/>
              <a:t>Timezone</a:t>
            </a:r>
            <a:endParaRPr lang="en-US" dirty="0"/>
          </a:p>
        </p:txBody>
      </p:sp>
      <p:sp>
        <p:nvSpPr>
          <p:cNvPr id="9" name="Left Brace 8">
            <a:extLst>
              <a:ext uri="{FF2B5EF4-FFF2-40B4-BE49-F238E27FC236}">
                <a16:creationId xmlns:a16="http://schemas.microsoft.com/office/drawing/2014/main" id="{D1BEE60F-8665-784D-9601-C8DCD3F5BCF8}"/>
              </a:ext>
            </a:extLst>
          </p:cNvPr>
          <p:cNvSpPr/>
          <p:nvPr/>
        </p:nvSpPr>
        <p:spPr>
          <a:xfrm rot="5400000">
            <a:off x="6314570" y="1425445"/>
            <a:ext cx="306292" cy="4546806"/>
          </a:xfrm>
          <a:prstGeom prst="leftBrace">
            <a:avLst>
              <a:gd name="adj1" fmla="val 8333"/>
              <a:gd name="adj2" fmla="val 24863"/>
            </a:avLst>
          </a:prstGeom>
          <a:noFill/>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Left Brace 9">
            <a:extLst>
              <a:ext uri="{FF2B5EF4-FFF2-40B4-BE49-F238E27FC236}">
                <a16:creationId xmlns:a16="http://schemas.microsoft.com/office/drawing/2014/main" id="{9770933F-22E6-4932-E4D6-9CE4C86AAC27}"/>
              </a:ext>
            </a:extLst>
          </p:cNvPr>
          <p:cNvSpPr/>
          <p:nvPr/>
        </p:nvSpPr>
        <p:spPr>
          <a:xfrm rot="5400000">
            <a:off x="3351096" y="1971021"/>
            <a:ext cx="113126" cy="4224524"/>
          </a:xfrm>
          <a:prstGeom prst="leftBrac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accent3">
                  <a:lumMod val="50000"/>
                </a:schemeClr>
              </a:solidFill>
            </a:endParaRPr>
          </a:p>
        </p:txBody>
      </p:sp>
      <p:sp>
        <p:nvSpPr>
          <p:cNvPr id="11" name="Left Brace 10">
            <a:extLst>
              <a:ext uri="{FF2B5EF4-FFF2-40B4-BE49-F238E27FC236}">
                <a16:creationId xmlns:a16="http://schemas.microsoft.com/office/drawing/2014/main" id="{69A77E10-7D16-9937-0461-21D96F285982}"/>
              </a:ext>
            </a:extLst>
          </p:cNvPr>
          <p:cNvSpPr/>
          <p:nvPr/>
        </p:nvSpPr>
        <p:spPr>
          <a:xfrm rot="5400000">
            <a:off x="6186393" y="-503663"/>
            <a:ext cx="113127" cy="9895119"/>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Left Brace 11">
            <a:extLst>
              <a:ext uri="{FF2B5EF4-FFF2-40B4-BE49-F238E27FC236}">
                <a16:creationId xmlns:a16="http://schemas.microsoft.com/office/drawing/2014/main" id="{1B29C824-033D-5910-753F-AB5341A784C0}"/>
              </a:ext>
            </a:extLst>
          </p:cNvPr>
          <p:cNvSpPr/>
          <p:nvPr/>
        </p:nvSpPr>
        <p:spPr>
          <a:xfrm rot="5400000">
            <a:off x="10001781" y="2584971"/>
            <a:ext cx="113128" cy="2192288"/>
          </a:xfrm>
          <a:prstGeom prst="leftBrac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accent3">
                  <a:lumMod val="50000"/>
                </a:schemeClr>
              </a:solidFill>
            </a:endParaRPr>
          </a:p>
        </p:txBody>
      </p:sp>
      <p:sp>
        <p:nvSpPr>
          <p:cNvPr id="13" name="Left Brace 12">
            <a:extLst>
              <a:ext uri="{FF2B5EF4-FFF2-40B4-BE49-F238E27FC236}">
                <a16:creationId xmlns:a16="http://schemas.microsoft.com/office/drawing/2014/main" id="{862BFDCC-5ADC-5050-F1F8-E3908A954245}"/>
              </a:ext>
            </a:extLst>
          </p:cNvPr>
          <p:cNvSpPr/>
          <p:nvPr/>
        </p:nvSpPr>
        <p:spPr>
          <a:xfrm rot="5400000">
            <a:off x="1774783" y="4310113"/>
            <a:ext cx="80292" cy="1039067"/>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Left Brace 13">
            <a:extLst>
              <a:ext uri="{FF2B5EF4-FFF2-40B4-BE49-F238E27FC236}">
                <a16:creationId xmlns:a16="http://schemas.microsoft.com/office/drawing/2014/main" id="{E39336B0-AC61-4B7B-4194-FFC01D2A778D}"/>
              </a:ext>
            </a:extLst>
          </p:cNvPr>
          <p:cNvSpPr/>
          <p:nvPr/>
        </p:nvSpPr>
        <p:spPr>
          <a:xfrm rot="5400000">
            <a:off x="4236809" y="2966615"/>
            <a:ext cx="113128" cy="369322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92767201"/>
      </p:ext>
    </p:extLst>
  </p:cSld>
  <p:clrMapOvr>
    <a:masterClrMapping/>
  </p:clrMapOvr>
  <p:transition>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9E9F2-B9A3-8A5E-3C9B-F8340168EFF2}"/>
              </a:ext>
            </a:extLst>
          </p:cNvPr>
          <p:cNvSpPr>
            <a:spLocks noGrp="1"/>
          </p:cNvSpPr>
          <p:nvPr>
            <p:ph type="title"/>
          </p:nvPr>
        </p:nvSpPr>
        <p:spPr/>
        <p:txBody>
          <a:bodyPr/>
          <a:lstStyle/>
          <a:p>
            <a:r>
              <a:rPr lang="en-US" dirty="0"/>
              <a:t>Merging </a:t>
            </a:r>
            <a:r>
              <a:rPr lang="en-US" dirty="0" err="1"/>
              <a:t>dataframes</a:t>
            </a:r>
            <a:r>
              <a:rPr lang="en-US" dirty="0"/>
              <a:t> </a:t>
            </a:r>
          </a:p>
        </p:txBody>
      </p:sp>
      <p:pic>
        <p:nvPicPr>
          <p:cNvPr id="5" name="Content Placeholder 4" descr="A screenshot of a computer&#10;&#10;AI-generated content may be incorrect.">
            <a:extLst>
              <a:ext uri="{FF2B5EF4-FFF2-40B4-BE49-F238E27FC236}">
                <a16:creationId xmlns:a16="http://schemas.microsoft.com/office/drawing/2014/main" id="{2384CFC9-2989-1534-2069-22C924FAB112}"/>
              </a:ext>
            </a:extLst>
          </p:cNvPr>
          <p:cNvPicPr>
            <a:picLocks noGrp="1" noChangeAspect="1"/>
          </p:cNvPicPr>
          <p:nvPr>
            <p:ph sz="quarter" idx="13"/>
          </p:nvPr>
        </p:nvPicPr>
        <p:blipFill>
          <a:blip r:embed="rId2"/>
          <a:stretch>
            <a:fillRect/>
          </a:stretch>
        </p:blipFill>
        <p:spPr>
          <a:xfrm>
            <a:off x="912524" y="2020042"/>
            <a:ext cx="10363200" cy="1362353"/>
          </a:xfrm>
          <a:prstGeom prst="rect">
            <a:avLst/>
          </a:prstGeom>
        </p:spPr>
      </p:pic>
      <p:pic>
        <p:nvPicPr>
          <p:cNvPr id="7" name="Picture 6" descr="A screenshot of a computer code&#10;&#10;AI-generated content may be incorrect.">
            <a:extLst>
              <a:ext uri="{FF2B5EF4-FFF2-40B4-BE49-F238E27FC236}">
                <a16:creationId xmlns:a16="http://schemas.microsoft.com/office/drawing/2014/main" id="{170CE68F-1395-E061-3AFE-DB7DF25271A9}"/>
              </a:ext>
            </a:extLst>
          </p:cNvPr>
          <p:cNvPicPr>
            <a:picLocks noChangeAspect="1"/>
          </p:cNvPicPr>
          <p:nvPr/>
        </p:nvPicPr>
        <p:blipFill>
          <a:blip r:embed="rId3"/>
          <a:stretch>
            <a:fillRect/>
          </a:stretch>
        </p:blipFill>
        <p:spPr>
          <a:xfrm>
            <a:off x="912524" y="3793965"/>
            <a:ext cx="10363200" cy="1698684"/>
          </a:xfrm>
          <a:prstGeom prst="rect">
            <a:avLst/>
          </a:prstGeom>
        </p:spPr>
      </p:pic>
    </p:spTree>
    <p:extLst>
      <p:ext uri="{BB962C8B-B14F-4D97-AF65-F5344CB8AC3E}">
        <p14:creationId xmlns:p14="http://schemas.microsoft.com/office/powerpoint/2010/main" val="1017394552"/>
      </p:ext>
    </p:extLst>
  </p:cSld>
  <p:clrMapOvr>
    <a:masterClrMapping/>
  </p:clrMapOvr>
  <p:transition>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BDC37-9CDD-76F3-A447-DBE8EE41713B}"/>
              </a:ext>
            </a:extLst>
          </p:cNvPr>
          <p:cNvSpPr>
            <a:spLocks noGrp="1"/>
          </p:cNvSpPr>
          <p:nvPr>
            <p:ph type="title"/>
          </p:nvPr>
        </p:nvSpPr>
        <p:spPr>
          <a:xfrm>
            <a:off x="1011745" y="683834"/>
            <a:ext cx="10364451" cy="981682"/>
          </a:xfrm>
        </p:spPr>
        <p:txBody>
          <a:bodyPr/>
          <a:lstStyle/>
          <a:p>
            <a:r>
              <a:rPr lang="en-US" dirty="0"/>
              <a:t>Sanity checks </a:t>
            </a:r>
          </a:p>
        </p:txBody>
      </p:sp>
      <p:pic>
        <p:nvPicPr>
          <p:cNvPr id="5" name="Content Placeholder 4" descr="A screenshot of a computer code&#10;&#10;AI-generated content may be incorrect.">
            <a:extLst>
              <a:ext uri="{FF2B5EF4-FFF2-40B4-BE49-F238E27FC236}">
                <a16:creationId xmlns:a16="http://schemas.microsoft.com/office/drawing/2014/main" id="{550F7184-C525-A1B0-BA53-ABA70E302186}"/>
              </a:ext>
            </a:extLst>
          </p:cNvPr>
          <p:cNvPicPr>
            <a:picLocks noGrp="1" noChangeAspect="1"/>
          </p:cNvPicPr>
          <p:nvPr>
            <p:ph sz="quarter" idx="13"/>
          </p:nvPr>
        </p:nvPicPr>
        <p:blipFill>
          <a:blip r:embed="rId2"/>
          <a:stretch>
            <a:fillRect/>
          </a:stretch>
        </p:blipFill>
        <p:spPr>
          <a:xfrm>
            <a:off x="1094238" y="1749288"/>
            <a:ext cx="10003523" cy="3892826"/>
          </a:xfrm>
          <a:prstGeom prst="rect">
            <a:avLst/>
          </a:prstGeom>
        </p:spPr>
      </p:pic>
    </p:spTree>
    <p:extLst>
      <p:ext uri="{BB962C8B-B14F-4D97-AF65-F5344CB8AC3E}">
        <p14:creationId xmlns:p14="http://schemas.microsoft.com/office/powerpoint/2010/main" val="229529465"/>
      </p:ext>
    </p:extLst>
  </p:cSld>
  <p:clrMapOvr>
    <a:masterClrMapping/>
  </p:clrMapOvr>
  <p:transition>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A5785-81B0-63E4-0C20-6436EEC7787D}"/>
              </a:ext>
            </a:extLst>
          </p:cNvPr>
          <p:cNvSpPr>
            <a:spLocks noGrp="1"/>
          </p:cNvSpPr>
          <p:nvPr>
            <p:ph type="title"/>
          </p:nvPr>
        </p:nvSpPr>
        <p:spPr>
          <a:xfrm>
            <a:off x="913773" y="96003"/>
            <a:ext cx="10364451" cy="1596177"/>
          </a:xfrm>
        </p:spPr>
        <p:txBody>
          <a:bodyPr/>
          <a:lstStyle/>
          <a:p>
            <a:r>
              <a:rPr lang="en-US" dirty="0"/>
              <a:t>Creating New Variables</a:t>
            </a:r>
          </a:p>
        </p:txBody>
      </p:sp>
      <p:pic>
        <p:nvPicPr>
          <p:cNvPr id="5" name="Content Placeholder 4" descr="A screenshot of a computer&#10;&#10;AI-generated content may be incorrect.">
            <a:extLst>
              <a:ext uri="{FF2B5EF4-FFF2-40B4-BE49-F238E27FC236}">
                <a16:creationId xmlns:a16="http://schemas.microsoft.com/office/drawing/2014/main" id="{BED4B95D-9F3A-057C-EC11-14E6531703D9}"/>
              </a:ext>
            </a:extLst>
          </p:cNvPr>
          <p:cNvPicPr>
            <a:picLocks noGrp="1" noChangeAspect="1"/>
          </p:cNvPicPr>
          <p:nvPr>
            <p:ph sz="quarter" idx="13"/>
          </p:nvPr>
        </p:nvPicPr>
        <p:blipFill>
          <a:blip r:embed="rId2"/>
          <a:stretch>
            <a:fillRect/>
          </a:stretch>
        </p:blipFill>
        <p:spPr>
          <a:xfrm>
            <a:off x="1916730" y="1268906"/>
            <a:ext cx="8358539" cy="5186323"/>
          </a:xfrm>
          <a:prstGeom prst="rect">
            <a:avLst/>
          </a:prstGeom>
        </p:spPr>
      </p:pic>
    </p:spTree>
    <p:extLst>
      <p:ext uri="{BB962C8B-B14F-4D97-AF65-F5344CB8AC3E}">
        <p14:creationId xmlns:p14="http://schemas.microsoft.com/office/powerpoint/2010/main" val="1871657820"/>
      </p:ext>
    </p:extLst>
  </p:cSld>
  <p:clrMapOvr>
    <a:masterClrMapping/>
  </p:clrMapOvr>
  <p:transition>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A66CA-14F4-6DE9-34DC-F0005ABDAC1E}"/>
              </a:ext>
            </a:extLst>
          </p:cNvPr>
          <p:cNvSpPr>
            <a:spLocks noGrp="1"/>
          </p:cNvSpPr>
          <p:nvPr>
            <p:ph type="title"/>
          </p:nvPr>
        </p:nvSpPr>
        <p:spPr/>
        <p:txBody>
          <a:bodyPr/>
          <a:lstStyle/>
          <a:p>
            <a:r>
              <a:rPr lang="en-US" dirty="0"/>
              <a:t>Weather Variables and Market Performance</a:t>
            </a:r>
          </a:p>
        </p:txBody>
      </p:sp>
      <p:pic>
        <p:nvPicPr>
          <p:cNvPr id="5" name="Content Placeholder 4" descr="A comparison of red and blue dots&#10;&#10;AI-generated content may be incorrect.">
            <a:extLst>
              <a:ext uri="{FF2B5EF4-FFF2-40B4-BE49-F238E27FC236}">
                <a16:creationId xmlns:a16="http://schemas.microsoft.com/office/drawing/2014/main" id="{D9C70293-6434-B181-9CFB-11B68DDC66C1}"/>
              </a:ext>
            </a:extLst>
          </p:cNvPr>
          <p:cNvPicPr>
            <a:picLocks noGrp="1" noChangeAspect="1"/>
          </p:cNvPicPr>
          <p:nvPr>
            <p:ph sz="quarter" idx="13"/>
          </p:nvPr>
        </p:nvPicPr>
        <p:blipFill>
          <a:blip r:embed="rId2"/>
          <a:stretch>
            <a:fillRect/>
          </a:stretch>
        </p:blipFill>
        <p:spPr>
          <a:xfrm>
            <a:off x="1019128" y="1936398"/>
            <a:ext cx="9994717" cy="4164466"/>
          </a:xfrm>
          <a:prstGeom prst="rect">
            <a:avLst/>
          </a:prstGeom>
        </p:spPr>
      </p:pic>
    </p:spTree>
    <p:extLst>
      <p:ext uri="{BB962C8B-B14F-4D97-AF65-F5344CB8AC3E}">
        <p14:creationId xmlns:p14="http://schemas.microsoft.com/office/powerpoint/2010/main" val="2911923751"/>
      </p:ext>
    </p:extLst>
  </p:cSld>
  <p:clrMapOvr>
    <a:masterClrMapping/>
  </p:clrMapOvr>
  <p:transition>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with green and red squares&#10;&#10;AI-generated content may be incorrect.">
            <a:extLst>
              <a:ext uri="{FF2B5EF4-FFF2-40B4-BE49-F238E27FC236}">
                <a16:creationId xmlns:a16="http://schemas.microsoft.com/office/drawing/2014/main" id="{E55CFF22-DCBF-6E0B-C46C-B122D50D2E4A}"/>
              </a:ext>
            </a:extLst>
          </p:cNvPr>
          <p:cNvPicPr>
            <a:picLocks noGrp="1" noChangeAspect="1"/>
          </p:cNvPicPr>
          <p:nvPr>
            <p:ph sz="quarter" idx="13"/>
          </p:nvPr>
        </p:nvPicPr>
        <p:blipFill>
          <a:blip r:embed="rId2"/>
          <a:stretch>
            <a:fillRect/>
          </a:stretch>
        </p:blipFill>
        <p:spPr>
          <a:xfrm>
            <a:off x="2232518" y="383563"/>
            <a:ext cx="7309047" cy="6090873"/>
          </a:xfrm>
          <a:prstGeom prst="rect">
            <a:avLst/>
          </a:prstGeom>
        </p:spPr>
      </p:pic>
    </p:spTree>
    <p:extLst>
      <p:ext uri="{BB962C8B-B14F-4D97-AF65-F5344CB8AC3E}">
        <p14:creationId xmlns:p14="http://schemas.microsoft.com/office/powerpoint/2010/main" val="3981419702"/>
      </p:ext>
    </p:extLst>
  </p:cSld>
  <p:clrMapOvr>
    <a:masterClrMapping/>
  </p:clrMapOvr>
  <p:transition>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E49AC-7F6E-49C1-0F69-F146913345B8}"/>
              </a:ext>
            </a:extLst>
          </p:cNvPr>
          <p:cNvSpPr>
            <a:spLocks noGrp="1"/>
          </p:cNvSpPr>
          <p:nvPr>
            <p:ph type="title"/>
          </p:nvPr>
        </p:nvSpPr>
        <p:spPr>
          <a:xfrm>
            <a:off x="5954486" y="618518"/>
            <a:ext cx="5323740" cy="851054"/>
          </a:xfrm>
        </p:spPr>
        <p:txBody>
          <a:bodyPr>
            <a:normAutofit fontScale="90000"/>
          </a:bodyPr>
          <a:lstStyle/>
          <a:p>
            <a:r>
              <a:rPr lang="en-US" dirty="0"/>
              <a:t>Regression Conclusion</a:t>
            </a:r>
          </a:p>
        </p:txBody>
      </p:sp>
      <p:sp>
        <p:nvSpPr>
          <p:cNvPr id="6" name="TextBox 5">
            <a:extLst>
              <a:ext uri="{FF2B5EF4-FFF2-40B4-BE49-F238E27FC236}">
                <a16:creationId xmlns:a16="http://schemas.microsoft.com/office/drawing/2014/main" id="{333F3C09-019F-D478-95C5-9528F55220BB}"/>
              </a:ext>
            </a:extLst>
          </p:cNvPr>
          <p:cNvSpPr txBox="1"/>
          <p:nvPr/>
        </p:nvSpPr>
        <p:spPr>
          <a:xfrm>
            <a:off x="5436704" y="1623218"/>
            <a:ext cx="6027125" cy="4093428"/>
          </a:xfrm>
          <a:prstGeom prst="rect">
            <a:avLst/>
          </a:prstGeom>
          <a:noFill/>
        </p:spPr>
        <p:txBody>
          <a:bodyPr wrap="square" rtlCol="0">
            <a:spAutoFit/>
          </a:bodyPr>
          <a:lstStyle/>
          <a:p>
            <a:r>
              <a:rPr lang="en-US" sz="2000" dirty="0"/>
              <a:t>The third regression is the preferred model because it includes the ”</a:t>
            </a:r>
            <a:r>
              <a:rPr lang="en-US" sz="2000" dirty="0" err="1"/>
              <a:t>bad_weather</a:t>
            </a:r>
            <a:r>
              <a:rPr lang="en-US" sz="2000" dirty="0"/>
              <a:t>” variable and monthly controls for seasonality. The results show that bad weather is associated with lower S&amp;P 500 closing prices, but the relationship is not statistically significant. At the same time, many month variables are significant, which suggests that seasonal patterns explain stock market movements better than weather conditions alone.</a:t>
            </a:r>
          </a:p>
          <a:p>
            <a:endParaRPr lang="en-US" sz="2000" dirty="0"/>
          </a:p>
          <a:p>
            <a:r>
              <a:rPr lang="en-US" sz="2000" dirty="0"/>
              <a:t>Overall, the analysis shows that weather may have some influence on investor behavior, but its effect on the market appears limited compared to larger economic and seasonal factors.</a:t>
            </a:r>
          </a:p>
        </p:txBody>
      </p:sp>
      <p:pic>
        <p:nvPicPr>
          <p:cNvPr id="14" name="Content Placeholder 13" descr="A screenshot of a calculator&#10;&#10;AI-generated content may be incorrect.">
            <a:extLst>
              <a:ext uri="{FF2B5EF4-FFF2-40B4-BE49-F238E27FC236}">
                <a16:creationId xmlns:a16="http://schemas.microsoft.com/office/drawing/2014/main" id="{E02EC742-26B7-6010-F20B-EAFF8265C5C5}"/>
              </a:ext>
            </a:extLst>
          </p:cNvPr>
          <p:cNvPicPr>
            <a:picLocks noGrp="1" noChangeAspect="1"/>
          </p:cNvPicPr>
          <p:nvPr>
            <p:ph sz="quarter" idx="13"/>
          </p:nvPr>
        </p:nvPicPr>
        <p:blipFill>
          <a:blip r:embed="rId2"/>
          <a:stretch>
            <a:fillRect/>
          </a:stretch>
        </p:blipFill>
        <p:spPr>
          <a:xfrm>
            <a:off x="1003225" y="154717"/>
            <a:ext cx="4085609" cy="6548566"/>
          </a:xfrm>
          <a:prstGeom prst="rect">
            <a:avLst/>
          </a:prstGeom>
        </p:spPr>
      </p:pic>
    </p:spTree>
    <p:extLst>
      <p:ext uri="{BB962C8B-B14F-4D97-AF65-F5344CB8AC3E}">
        <p14:creationId xmlns:p14="http://schemas.microsoft.com/office/powerpoint/2010/main" val="115060163"/>
      </p:ext>
    </p:extLst>
  </p:cSld>
  <p:clrMapOvr>
    <a:masterClrMapping/>
  </p:clrMapOvr>
  <p:transition>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76E39-964D-5E4C-93CE-7E1FAC1610A9}"/>
              </a:ext>
            </a:extLst>
          </p:cNvPr>
          <p:cNvSpPr>
            <a:spLocks noGrp="1"/>
          </p:cNvSpPr>
          <p:nvPr>
            <p:ph type="title"/>
          </p:nvPr>
        </p:nvSpPr>
        <p:spPr>
          <a:xfrm>
            <a:off x="913774" y="1482739"/>
            <a:ext cx="10364452" cy="2511835"/>
          </a:xfrm>
        </p:spPr>
        <p:txBody>
          <a:bodyPr>
            <a:normAutofit/>
          </a:bodyPr>
          <a:lstStyle/>
          <a:p>
            <a:r>
              <a:rPr lang="en-US" sz="6600" dirty="0"/>
              <a:t>Thank you !</a:t>
            </a:r>
          </a:p>
        </p:txBody>
      </p:sp>
    </p:spTree>
    <p:extLst>
      <p:ext uri="{BB962C8B-B14F-4D97-AF65-F5344CB8AC3E}">
        <p14:creationId xmlns:p14="http://schemas.microsoft.com/office/powerpoint/2010/main" val="784069034"/>
      </p:ext>
    </p:extLst>
  </p:cSld>
  <p:clrMapOvr>
    <a:masterClrMapping/>
  </p:clrMapOvr>
  <p:transition>
    <p:push dir="u"/>
  </p:transition>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Droplet</Template>
  <TotalTime>1541</TotalTime>
  <Words>405</Words>
  <Application>Microsoft Macintosh PowerPoint</Application>
  <PresentationFormat>Widescreen</PresentationFormat>
  <Paragraphs>43</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Tw Cen MT</vt:lpstr>
      <vt:lpstr>Droplet</vt:lpstr>
      <vt:lpstr>The Effect of Weather on S&amp;P 500 Market Performance</vt:lpstr>
      <vt:lpstr>Motivation </vt:lpstr>
      <vt:lpstr>Key Variables </vt:lpstr>
      <vt:lpstr>Main challenges with api</vt:lpstr>
      <vt:lpstr>Merging dataframes </vt:lpstr>
      <vt:lpstr>Sanity checks </vt:lpstr>
      <vt:lpstr>Creating New Variables</vt:lpstr>
      <vt:lpstr>Weather Variables and Market Performance</vt:lpstr>
      <vt:lpstr>PowerPoint Presentation</vt:lpstr>
      <vt:lpstr>Regression 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Nazarova, Yelizaveta</dc:creator>
  <cp:lastModifiedBy>Nazarova, Yelizaveta</cp:lastModifiedBy>
  <cp:revision>4</cp:revision>
  <dcterms:created xsi:type="dcterms:W3CDTF">2026-05-10T21:55:38Z</dcterms:created>
  <dcterms:modified xsi:type="dcterms:W3CDTF">2026-05-11T23:36:46Z</dcterms:modified>
</cp:coreProperties>
</file>